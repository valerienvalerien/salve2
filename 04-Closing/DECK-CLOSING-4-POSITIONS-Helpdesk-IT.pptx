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pas re-vendre. Ouvrir sur : « Aujourd'hui je viens figer le périmètre, la date de démarrage et les modalités. À la fin de cet appel, soit on a un contrat signé et une date, soit on sait précisément ce qui manque.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Reprendre ses mots exacts du premier appel. S'il corrige ou complète, noter : c'est le périmètre qui se fige.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Poser la définition AVANT d'annoncer le prix. C'est ce qui évite la renégociation de périmètre au mois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soi-même le palier 5+ : cela pose que le prix baisse par volume ferme et non par négociation. S'il demande 1 550 € à quatre positions : « le palier cinq est un prix de volume engagé, il s'achète avec un volume ferme, pas avec une intention.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Je ne compare pas à un salaire brut : je compare à ce que vous coûte vraiment un poste tenu.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LE chiffre qui compte pour un donneur d'ordre : il n'achète pas une économie, il achète une marge et une capacité qu'il peut vendre.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le gabarit de reporting hebdomadaire imprimé. Ne jamais remettre la grille QA interne : le client reçoit le reporting, pas le référentiel.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On met notre argent sur le résultat. » Ne pas surpromettre le seuil : il se fige au cadrage, avec la volumétrie réelle sous les yeux.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le slide qui répond à « vous êtes trop petits ». Un plan de continuité écrit est ce qu'aucun concurrent low-cost ne fournit.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N'en concéder qu'UNE, choisie à l'avance. Trois d'un coup, ce n'est plus une concession, c'est une braderie — et il ne reste rien pour l'objection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 la phrase, puis SE TAIRE. Toute justification supplémentaire donne l'impression que le dépôt est négociable. S'il pousse : « c'est ce qui me permet de démarrer le recrutement le jour même au lieu d'attendre trente jours — c'est ce qui vous fait gagner un mois.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jamais annoncer trois semaines : c'est la durée de la mise en service seule. Une date tenue vaut mille fois mieux qu'une date vendue.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Poser la demande, puis ne plus parler. Le premier qui parle après la demande perd la fin de la négociation. S'il ne signe pas : « qu'est-ce qui manque exactement ? » et une date, pas « dans quelques jours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pas ouvrir là-dessus : cela double le prix affiché. Le bon déclencheur est l'objection de résilience — « et si votre agent tombe malade ? ». Priority devient alors la réponse, pas une montée en gamme. Côté marge, c'est +2 280 €/mois à effectif identique : c'est le vrai upsell du deal, très loin devant la 5e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PRIX À VALIDER avant de montrer ce slide : cette grille est une proposition (PRICING.md §3.c), pas encore actée. Ne jamais concéder une amplitude gratuitement pour débloquer une signature — c'est 200 à 520 € par mois pendant toute la durée du contrat. Le bon moment pour la vendre est M+2/M+3, quand le reporting montre le besoin.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C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13C58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1417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CE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SALVERYS · MARQUE BLANCHE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94360" y="18288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Helpdesk IT N1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sous votre marque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94360" y="37947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positions dédiées, à Antananarivo, dans vos outils et sur vos procédures. Vos clients finaux ne voient que vous.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732520" y="1828800"/>
            <a:ext cx="2834640" cy="1417320"/>
          </a:xfrm>
          <a:prstGeom prst="roundRect">
            <a:avLst>
              <a:gd name="adj" fmla="val 5806"/>
            </a:avLst>
          </a:prstGeom>
          <a:solidFill>
            <a:srgbClr val="05496A"/>
          </a:solidFill>
          <a:ln w="12700">
            <a:solidFill>
              <a:srgbClr val="0549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32520" y="193852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CE2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8732520" y="26974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dédiées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732520" y="3383280"/>
            <a:ext cx="2834640" cy="1234440"/>
          </a:xfrm>
          <a:prstGeom prst="roundRect">
            <a:avLst>
              <a:gd name="adj" fmla="val 6667"/>
            </a:avLst>
          </a:prstGeom>
          <a:solidFill>
            <a:srgbClr val="05496A"/>
          </a:solidFill>
          <a:ln w="12700">
            <a:solidFill>
              <a:srgbClr val="0549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32520" y="34747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à 7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732520" y="4069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 jusqu'à la production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[PARTENAIRE]  ·  [date du rendez-vous]  ·  Document confidentiel, remis sous NDA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63276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VJUS — nom commercial Salverys · Antananarivo, Madagascar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DE DÉPART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vous m'avez dit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207008"/>
          </a:xfrm>
          <a:prstGeom prst="roundRect">
            <a:avLst>
              <a:gd name="adj" fmla="val 6818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212848"/>
            <a:ext cx="420624" cy="420624"/>
          </a:xfrm>
          <a:prstGeom prst="ellipse">
            <a:avLst/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91640" y="206654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N1 déborde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91640" y="24688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[à remplacer par ses mots : événement déclencheur, part de tickets hors SLA sur les derniers mois]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3246120"/>
            <a:ext cx="10972800" cy="1207008"/>
          </a:xfrm>
          <a:prstGeom prst="roundRect">
            <a:avLst>
              <a:gd name="adj" fmla="val 6818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3630168"/>
            <a:ext cx="420624" cy="420624"/>
          </a:xfrm>
          <a:prstGeom prst="ellipse">
            <a:avLst/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91640" y="348386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recrutement ne suit pas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91640" y="388620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[à remplacer : nombre de postes ouverts, durée moyenne avant départ, coût du turnover]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4663440"/>
            <a:ext cx="10972800" cy="1207008"/>
          </a:xfrm>
          <a:prstGeom prst="roundRect">
            <a:avLst>
              <a:gd name="adj" fmla="val 6818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5047488"/>
            <a:ext cx="420624" cy="420624"/>
          </a:xfrm>
          <a:prstGeom prst="ellipse">
            <a:avLst/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5047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91640" y="490118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créneaux ingrats coûtent cher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530352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[à remplacer : tranche horaire ou jour couvert en astreinte, mal vécu, non rentable]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632764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proposition qui suit est construite sur ces trois points, et sur rien d'autre.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LE PRIX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comprend une position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position, c'est un équivalent temps plein dédié à vous. Voici exactement ce qu'il y a dedans — et ce qu'il n'y a pas.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2011680"/>
            <a:ext cx="6858000" cy="585216"/>
          </a:xfrm>
          <a:prstGeom prst="roundRect">
            <a:avLst>
              <a:gd name="adj" fmla="val 14063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1168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651760" y="2011680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ETP dédié, 35 h par semaine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697480"/>
            <a:ext cx="6858000" cy="585216"/>
          </a:xfrm>
          <a:prstGeom prst="roundRect">
            <a:avLst>
              <a:gd name="adj" fmla="val 14063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69748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Canaux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51760" y="2697480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et e-mail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" y="3383280"/>
            <a:ext cx="6858000" cy="585216"/>
          </a:xfrm>
          <a:prstGeom prst="roundRect">
            <a:avLst>
              <a:gd name="adj" fmla="val 14063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8328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3383280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Français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4069080"/>
            <a:ext cx="6858000" cy="585216"/>
          </a:xfrm>
          <a:prstGeom prst="roundRect">
            <a:avLst>
              <a:gd name="adj" fmla="val 14063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06908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51760" y="4069080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9h – 18h heure de Paris, du lundi au vendredi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754880"/>
            <a:ext cx="6858000" cy="585216"/>
          </a:xfrm>
          <a:prstGeom prst="roundRect">
            <a:avLst>
              <a:gd name="adj" fmla="val 14063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75488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51760" y="4754880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 : qualification, diagnostic, résolution, escalade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818120" y="2011680"/>
            <a:ext cx="3749040" cy="3328416"/>
          </a:xfrm>
          <a:prstGeom prst="roundRect">
            <a:avLst>
              <a:gd name="adj" fmla="val 2473"/>
            </a:avLst>
          </a:prstGeom>
          <a:solidFill>
            <a:srgbClr val="FCEEC9"/>
          </a:solidFill>
          <a:ln w="12700">
            <a:solidFill>
              <a:srgbClr val="FCEE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92440" y="21762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périmètre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92440" y="2560320"/>
            <a:ext cx="3200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voix (téléphone)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9h, après 18h, samedi, dimanche, nuit, jours fériés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Astreinte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 et N3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Interventions sur site, gestion de parc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92440" y="459028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Chiffrés séparément, jamais accordés verbalement.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94360" y="5577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9h – 18h à Paris, c'est 10h – 19h chez nous. Pleine journée ouvrée à Antananarivo : ni astreinte, ni majoration de nuit.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94360" y="632764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extension du périmètre passe par un avenant ou un nouveau devis.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CONFIDENTIEL — REMIS SOUS 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Votre grille tarifaire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paliers de volume — pas un prix par effectif. Le prix baisse avec le volume que vous engagez fermement.</a:t>
            </a:r>
            <a:endParaRPr lang="en-US" sz="13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057400"/>
          <a:ext cx="109728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011680"/>
                <a:gridCol w="2651760"/>
                <a:gridCol w="24688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 engagées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C5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Palier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C5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 / position / mois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C5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mensuel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C5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position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2 000 €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2 000 €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2 000 €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4 000 €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–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1 750 €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5 250 €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13C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positions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27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13C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–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27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13C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1 750 €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27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13C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7 000 €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27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positions et plus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1 550 €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7 750 €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4360" y="4864608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4864608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palier ne s'ouvre qu'au seuil atteint : deux positions restent au prix d'une, quatre au prix de trois.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4864608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CEEC9"/>
          </a:solidFill>
          <a:ln w="12700">
            <a:solidFill>
              <a:srgbClr val="FCEE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4864608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palier 5+ s'achète avec un volume ferme facturé — cinq positions dues chaque mois, consommées ou non.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632764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et mise en place offerts · facturation mensuelle · grille révisable annuellement, préavis 90 jours.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ALTERNATIVE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coûtent quatre N1 en interne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POSTES N1 EN FRANCE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54203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2B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12 800 – 16 800 €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60120" y="336499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mois, en coût complet : salaire, charges, congés, absences, recrutement, formation, supervision, matériel, licences, locaux.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FCE27C"/>
          </a:solidFill>
          <a:ln w="12700">
            <a:solidFill>
              <a:srgbClr val="FCE2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MÊMES QUATRE POSITIONS, CHEZ NOUS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254203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7 000 €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675120" y="336499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mois, tout compris : équipe dédiée, encadrement, qualité, continuité et engagement de service.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4526280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6634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E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L'écart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501091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5 800 à 9 800 € par mois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035040" y="470916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soit 70 000 à 118 000 € par an, à service rendu identique — et sans porter le risque de turnover.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94360" y="632764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 : coût employeur complet d'un technicien support IT N1 en France, 38 à 50 k€ par an et par poste.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MODÈLE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ça vous rapporte en revente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revendez la prestation sous votre marque. Votre marge se construit sur l'écart, sans masse salariale à avancer.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2103120"/>
            <a:ext cx="3538728" cy="2514600"/>
          </a:xfrm>
          <a:prstGeom prst="roundRect">
            <a:avLst>
              <a:gd name="adj" fmla="val 3273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FACTUREZ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26334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B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10 800 €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86968" y="34290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positions à 2 700 € — repère de marché pour un N1 francophone dédié. Vous restez libre de votre prix.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103120"/>
            <a:ext cx="3538728" cy="2514600"/>
          </a:xfrm>
          <a:prstGeom prst="roundRect">
            <a:avLst>
              <a:gd name="adj" fmla="val 3273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8576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PAYEZ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08576" y="26334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B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7 000 €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08576" y="34290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positions au palier 3-4, à 1 750 € la position.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37576" y="2103120"/>
            <a:ext cx="3538728" cy="2514600"/>
          </a:xfrm>
          <a:prstGeom prst="roundRect">
            <a:avLst>
              <a:gd name="adj" fmla="val 3273"/>
            </a:avLst>
          </a:prstGeom>
          <a:solidFill>
            <a:srgbClr val="FCE27C"/>
          </a:solidFill>
          <a:ln w="12700">
            <a:solidFill>
              <a:srgbClr val="FCE2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GARDEZ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30184" y="26334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3 800 €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330184" y="34290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mois, soit 45 600 € par an — sans embaucher personne.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489204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89204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si un client final s'arrête, vous ne restez pas avec quatre CDI sur les bras.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594360" y="632764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Élasticité : le nombre de positions monte ou descend au rythme de vos contrats.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TIENT LA PROMESSE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qualité, armée avant le premier ticket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057400"/>
            <a:ext cx="420624" cy="420624"/>
          </a:xfrm>
          <a:prstGeom prst="ellipse">
            <a:avLst/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45920" y="1911096"/>
            <a:ext cx="3017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de notation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883664"/>
            <a:ext cx="64922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critères notés à chaque écoute, dont 2 bloquants : respect du SLA et traçabilité du ticket. Un manquement sur l'un des deux met la fiche au rouge, quel que soit le score.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2843784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118104"/>
            <a:ext cx="420624" cy="420624"/>
          </a:xfrm>
          <a:prstGeom prst="ellipse">
            <a:avLst/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18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2971800"/>
            <a:ext cx="3017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écoute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9160" y="2944368"/>
            <a:ext cx="64922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moins 5 écoutes par agent la première semaine, puis 2 par semaine en régime, et systématiquement après toute réclamation. Restitution à l'agent sous 48 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3904488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178808"/>
            <a:ext cx="420624" cy="420624"/>
          </a:xfrm>
          <a:prstGeom prst="ellipse">
            <a:avLst/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178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45920" y="4032504"/>
            <a:ext cx="3017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hebdomadaire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09160" y="4005072"/>
            <a:ext cx="64922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Volumes, délais, taux d'escalade, top motifs, irritants récurrents. Vous mesurez, vous ne nous croyez pas sur parole.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4965192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5239512"/>
            <a:ext cx="420624" cy="420624"/>
          </a:xfrm>
          <a:prstGeom prst="ellipse">
            <a:avLst/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5239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645920" y="5093208"/>
            <a:ext cx="3017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Escalades documentées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09160" y="5065776"/>
            <a:ext cx="64922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N1 → N2 → vous : interlocuteur, canal et délai figés au cadrage, écrits avant le premier ticket.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4360" y="632764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ne démarre sans grille armée, planning de double écoute et escalades écrites.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C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CE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ARGENT SUR LE RÉSULTAT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L'engagement de service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7040880" cy="868680"/>
          </a:xfrm>
          <a:prstGeom prst="roundRect">
            <a:avLst>
              <a:gd name="adj" fmla="val 9474"/>
            </a:avLst>
          </a:prstGeom>
          <a:solidFill>
            <a:srgbClr val="05496A"/>
          </a:solidFill>
          <a:ln w="12700">
            <a:solidFill>
              <a:srgbClr val="0549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93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A9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engagé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14400" y="227685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prise en charge des tickets N1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2880360"/>
            <a:ext cx="7040880" cy="868680"/>
          </a:xfrm>
          <a:prstGeom prst="roundRect">
            <a:avLst>
              <a:gd name="adj" fmla="val 9474"/>
            </a:avLst>
          </a:prstGeom>
          <a:solidFill>
            <a:srgbClr val="05496A"/>
          </a:solidFill>
          <a:ln w="12700">
            <a:solidFill>
              <a:srgbClr val="0549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999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A9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4400" y="328269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Figé avec vous au cadrage, mesuré sur les tickets présentés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3886200"/>
            <a:ext cx="7040880" cy="868680"/>
          </a:xfrm>
          <a:prstGeom prst="roundRect">
            <a:avLst>
              <a:gd name="adj" fmla="val 9474"/>
            </a:avLst>
          </a:prstGeom>
          <a:solidFill>
            <a:srgbClr val="05496A"/>
          </a:solidFill>
          <a:ln w="12700">
            <a:solidFill>
              <a:srgbClr val="0549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0050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A9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seuil n'est pas tenu sur un mois civil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428853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 d'avoir automatique sur la facture du mois suivant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46720" y="187452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CE27C"/>
          </a:solidFill>
          <a:ln w="12700">
            <a:solidFill>
              <a:srgbClr val="FCE2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0" y="2212848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20 %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046720" y="314553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d'avoir automatique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38160" y="3547872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n'avez rien à réclamer.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Plafonné à un mois sur douze.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5074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L'engagement court à partir du premier mois plein en régime : pendant l'intégration, le service n'est pas encore stabilisé et nous ne vous demandons rien d'autre que de mesurer avec nous.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632764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indisponibilités de vos propres systèmes et hors débordement au-delà du périmètre souscrit.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RISQUE QUE TOUT LE MONDE OUBLIE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continuité de service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contraintes réelles à Antananarivo : le réseau et l'électricité. Traitées, écrites, et remises avant le démarrage.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2103120"/>
            <a:ext cx="2606040" cy="2880360"/>
          </a:xfrm>
          <a:prstGeom prst="roundRect">
            <a:avLst>
              <a:gd name="adj" fmla="val 3158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3317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50392" y="2633472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connexion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0392" y="3456432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agent dispose d'une fibre et d'un relais 4G, avec procédure de bascule.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2103120"/>
            <a:ext cx="2606040" cy="2880360"/>
          </a:xfrm>
          <a:prstGeom prst="roundRect">
            <a:avLst>
              <a:gd name="adj" fmla="val 3158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9312" y="23317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ÉNERGIE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39312" y="2633472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de repli alimenté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39312" y="3456432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Onduleurs et groupe électrogène : le service ne dépend pas du réseau électrique local.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2103120"/>
            <a:ext cx="2606040" cy="2880360"/>
          </a:xfrm>
          <a:prstGeom prst="roundRect">
            <a:avLst>
              <a:gd name="adj" fmla="val 3158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8232" y="23317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28232" y="2633472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+1 par compte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3456432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supplémentaire formé sur vos procédures : pas de jour d'arrêt sur une absence.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61120" y="2103120"/>
            <a:ext cx="2606040" cy="2880360"/>
          </a:xfrm>
          <a:prstGeom prst="roundRect">
            <a:avLst>
              <a:gd name="adj" fmla="val 3158"/>
            </a:avLst>
          </a:prstGeom>
          <a:solidFill>
            <a:srgbClr val="FCEEC9"/>
          </a:solidFill>
          <a:ln w="12700">
            <a:solidFill>
              <a:srgbClr val="FCEE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17152" y="23317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217152" y="2633472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continuité écrit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17152" y="3456432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Remis avant tout démarrage, réutilisable dans vos propres réponses d'appels d'offres.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4360" y="5138928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138928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données restent dans vos outils. Comptes nominatifs, MFA, aucun stockage chez nous — nous sommes sous-traitant au sens du RGPD, avec DPA signé.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REMISE, ET C'EST VOLONTAIRE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nous vous accordons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revendez : une remise sur votre prix de gros améliorerait votre marge d'un mois, elle ne vous ferait gagner aucun client. Ce que nous vous donnons enlève du risque — et vous aide à vendre.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2240280"/>
            <a:ext cx="3538728" cy="2514600"/>
          </a:xfrm>
          <a:prstGeom prst="roundRect">
            <a:avLst>
              <a:gd name="adj" fmla="val 3273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4688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à 30 jours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86968" y="329184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Pendant les trois premiers mois, vous arrêtez sur simple notification, sans indemnité — au lieu des 60 jours de préavis contractuels.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2240280"/>
            <a:ext cx="3538728" cy="2514600"/>
          </a:xfrm>
          <a:prstGeom prst="roundRect">
            <a:avLst>
              <a:gd name="adj" fmla="val 3273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8576" y="24688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Exclusivité 12 mois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08576" y="329184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autre prestataire de même nature sur [votre territoire ou votre segment] ne sera servi par Salverys pendant douze mois.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37576" y="2240280"/>
            <a:ext cx="3538728" cy="2514600"/>
          </a:xfrm>
          <a:prstGeom prst="roundRect">
            <a:avLst>
              <a:gd name="adj" fmla="val 3273"/>
            </a:avLst>
          </a:prstGeom>
          <a:solidFill>
            <a:srgbClr val="FCE27C"/>
          </a:solidFill>
          <a:ln w="12700">
            <a:solidFill>
              <a:srgbClr val="FCE2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0184" y="24688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Appui avant-vente sous 48 h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330184" y="329184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continuité, DPA, dispositif QA, CV anonymisés et engagement SLA écrit — réutilisables tels quels dans vos réponses d'appels d'offres.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94360" y="4956048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troisième est le seul qui vous aide à gagner un client, pas seulement à en économiser un.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" y="546811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prix, c'est le volume que vous engagez fermement qui le fait baisser — pas la négociation.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94360" y="632764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contreparties accordées sont cochées dans le devis et reprises au contrat.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DÉCLENCHE TOUT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dépôt d'activation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5120640" cy="2011680"/>
          </a:xfrm>
          <a:prstGeom prst="roundRect">
            <a:avLst>
              <a:gd name="adj" fmla="val 4091"/>
            </a:avLst>
          </a:prstGeom>
          <a:solidFill>
            <a:srgbClr val="FCE27C"/>
          </a:solidFill>
          <a:ln w="12700">
            <a:solidFill>
              <a:srgbClr val="FCE2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14884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2 700 €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60120" y="297180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signature — plafonné, quel que soit le nombre de positions.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0" y="201168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Vous ne le payez pas : vous l'avancez.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126480" y="2542032"/>
            <a:ext cx="5440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vous revient intégralement dans vos trois premières factures. Un partenaire qui va au bout du contrat ne paie rien de plus : ce n'est pas des frais, c'est une avance.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20624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C5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imputé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C5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dû sur le dépôt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C5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Mois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 900 €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1 800 €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Mois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 900 €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900 €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Mois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 900 €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766560" y="4206240"/>
            <a:ext cx="4800600" cy="1737360"/>
          </a:xfrm>
          <a:prstGeom prst="roundRect">
            <a:avLst>
              <a:gd name="adj" fmla="val 4737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040880" y="4389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ne nous reste acquis que dans un seul cas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040880" y="4736592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annulez après que nous ayons engagé le recrutement et lancé la formation de quatre personnes pour vous. Avant ce démarrage, il vous est intégralement restitué.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94360" y="632764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et mise en place : offerts. Le dépôt n'est pas une facturation de la mise en service.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SIGNATURE À LA PRODUCTION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à sept semaines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Recruter un technicien N1 en France prend 60 à 90 jours. Quatre en même temps, cela n'arrive pas.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214884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2377440"/>
            <a:ext cx="420624" cy="420624"/>
          </a:xfrm>
          <a:prstGeom prst="ellipse">
            <a:avLst/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7744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50392" y="294436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50392" y="37033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Contrat, DPA et devis signés. Dépôt d'activation encaissé — c'est lui qui déclenche le recrutement.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214884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39312" y="2377440"/>
            <a:ext cx="420624" cy="420624"/>
          </a:xfrm>
          <a:prstGeom prst="ellipse">
            <a:avLst/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9312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06240" y="237744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 S4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39312" y="294436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 de l'équipe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9312" y="37033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Sélection, tests de mise en situation, contrats de prestation, NDA et DPA des intervenants.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72200" y="214884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28232" y="2377440"/>
            <a:ext cx="420624" cy="420624"/>
          </a:xfrm>
          <a:prstGeom prst="ellipse">
            <a:avLst/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28232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95160" y="237744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– S6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28232" y="294436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28232" y="37033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nominatifs à votre ticketing, formation à vos procédures et à vos macros, armement de la qualité, test de bout en bout.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961120" y="2148840"/>
            <a:ext cx="2606040" cy="3200400"/>
          </a:xfrm>
          <a:prstGeom prst="roundRect">
            <a:avLst>
              <a:gd name="adj" fmla="val 3158"/>
            </a:avLst>
          </a:prstGeom>
          <a:solidFill>
            <a:srgbClr val="FCE27C"/>
          </a:solidFill>
          <a:ln w="12700">
            <a:solidFill>
              <a:srgbClr val="FCE2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17152" y="2377440"/>
            <a:ext cx="420624" cy="420624"/>
          </a:xfrm>
          <a:prstGeom prst="ellipse">
            <a:avLst/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84080" y="2377440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– S7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17152" y="294436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217152" y="37033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ticket traité sous votre marque. Reporting dès la première semaine.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4360" y="55321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nous signons aujourd'hui, vous démarrez le [date].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C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CE2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DÉMARRER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qu'il me faut aujourd'hui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7680960" cy="1371600"/>
          </a:xfrm>
          <a:prstGeom prst="roundRect">
            <a:avLst>
              <a:gd name="adj" fmla="val 6000"/>
            </a:avLst>
          </a:prstGeom>
          <a:solidFill>
            <a:srgbClr val="05496A"/>
          </a:solidFill>
          <a:ln w="12700">
            <a:solidFill>
              <a:srgbClr val="0549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487168"/>
            <a:ext cx="420624" cy="420624"/>
          </a:xfrm>
          <a:prstGeom prst="ellipse">
            <a:avLst/>
          </a:prstGeom>
          <a:solidFill>
            <a:srgbClr val="FCE27C"/>
          </a:solidFill>
          <a:ln w="12700">
            <a:solidFill>
              <a:srgbClr val="FCE2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37360" y="2249424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signature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737360" y="2670048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contrat de prestation, son annexe de niche et le DPA. Les trois documents sont sur la table.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3584448"/>
            <a:ext cx="7680960" cy="1371600"/>
          </a:xfrm>
          <a:prstGeom prst="roundRect">
            <a:avLst>
              <a:gd name="adj" fmla="val 6000"/>
            </a:avLst>
          </a:prstGeom>
          <a:solidFill>
            <a:srgbClr val="05496A"/>
          </a:solidFill>
          <a:ln w="12700">
            <a:solidFill>
              <a:srgbClr val="05496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4059936"/>
            <a:ext cx="420624" cy="420624"/>
          </a:xfrm>
          <a:prstGeom prst="ellipse">
            <a:avLst/>
          </a:prstGeom>
          <a:solidFill>
            <a:srgbClr val="FCE27C"/>
          </a:solidFill>
          <a:ln w="12700">
            <a:solidFill>
              <a:srgbClr val="FCE27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3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737360" y="3822192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virement du dépôt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4242816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2 700 €. C'est lui qui déclenche le recrutement — et le recrutement, c'est votre date de démarrage.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595360" y="2011680"/>
            <a:ext cx="2971800" cy="2761488"/>
          </a:xfrm>
          <a:prstGeom prst="roundRect">
            <a:avLst>
              <a:gd name="adj" fmla="val 2980"/>
            </a:avLst>
          </a:prstGeom>
          <a:solidFill>
            <a:srgbClr val="FCE27C"/>
          </a:solidFill>
          <a:ln w="12700">
            <a:solidFill>
              <a:srgbClr val="FCE2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0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Récapitulatif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869680" y="2578608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positions à 1 750 €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7 000 € par mois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Démarrage le [date]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à 30 jours les 3 premiers mois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engagé, 20 % d'avoir en deçà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94360" y="5257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CE2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y va ?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5486400" y="6327648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VJUS — nom commercial Salverys · Antananarivo · Document confidentiel remis sous NDA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— SI LA QUESTION DE LA RÉSILIENCE SE POSE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Zéro rupture : l'option Priority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dédié, une absence est couverte par notre backup mutualisé. En Priority, le backup est réservé à votre compte : il ne sert personne d'autre, et votre file passe en premier.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2194560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9572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POSITIONS DÉDIÉES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7 000 € / mois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36499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1 750 € la position. Backup mutualisé : les absences sont couvertes, sans capacité réservée.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2194560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CE27C"/>
          </a:solidFill>
          <a:ln w="12700">
            <a:solidFill>
              <a:srgbClr val="FCE2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39572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POSITIONS PRIORITY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7960" y="2706624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9 280 € / mois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537960" y="336499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12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2 320 € la position. Backup permanent réservé, traitement prioritaire, supervision renforcée.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461772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013C58"/>
          </a:solidFill>
          <a:ln w="12700">
            <a:solidFill>
              <a:srgbClr val="013C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7548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garantie égale, quatre positions Priority valent six positions dédiées.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05840" y="5193792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dédiées au meilleur palier, c'est 9 300 € — pour le même budget, vous pilotez quatre interlocuteurs au lieu de six.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" y="632764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se chiffre aussi à 1, 2, 3 ou 5 positions — multiplicateur dégressif avec le volume.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— HORS PÉRIMÈTRE STANDARD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13C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Étendre l'amplitude, créneau par créneau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572768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n'avez pas besoin de quatre techniciens à 7h du matin : vous en avez besoin d'un. L'amplitude se vend par créneau couvert, pas par position.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21408"/>
          <a:ext cx="1097280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Créneau ajouté (une position présente)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C5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Quand, chez vous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C5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 mensuel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C5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13C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Matin 7h – 9h, du lundi au vendredi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27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13C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 l'arrivée de vos équipes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27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013C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550 €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27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Soirée 18h – 20h, du lundi au vendredi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Après le départ de vos équipes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650 €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Samedi 9h – 13h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Matinée du samedi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320 €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Samedi 9h – 18h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Journée du samedi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700 €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Dimanche ou jour férié, 9h – 18h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la journée, sur demande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dirty="0">
                          <a:solidFill>
                            <a:srgbClr val="1A2B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190 € / jour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4360" y="489204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EDF2F5"/>
          </a:solidFill>
          <a:ln w="12700">
            <a:solidFill>
              <a:srgbClr val="EDF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60120" y="489204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7h – 9h de Paris tombe en pleine journée de bureau à Antananarivo : ni astreinte, ni prime de nuit, ni mauvaise volonté d'équipe. C'est le créneau que vous payez le plus cher en interne, et celui qui nous coûte le moins.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94360" y="6327648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Activable par avenant à tout moment. Heure de Paris dans tous les cas.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018520" y="6327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VJUS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Closing — 4 positions helpdesk IT N1</dc:title>
  <dc:subject>PptxGenJS Presentation</dc:subject>
  <dc:creator>Salverys</dc:creator>
  <cp:lastModifiedBy>Salverys</cp:lastModifiedBy>
  <cp:revision>1</cp:revision>
  <dcterms:created xsi:type="dcterms:W3CDTF">2026-08-09T14:25:23Z</dcterms:created>
  <dcterms:modified xsi:type="dcterms:W3CDTF">2026-08-09T14:25:23Z</dcterms:modified>
</cp:coreProperties>
</file>