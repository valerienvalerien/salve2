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re-vendre. Ouvrir sur : « Aujourd'hui je viens figer le périmètre, la date de démarrage et les modalités. À la fin de cet appel, soit on a un contrat signé et une date, soit on sait précisément ce qui manque.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Reprendre ses mots exacts du premier appel. S'il corrige ou complète, noter : c'est le périmètre qui se fige.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la définition AVANT d'annoncer le prix. C'est ce qui évite la renégociation de périmètre au mois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soi-même le palier 5+ : cela pose que le prix baisse par volume ferme et non par négociation. S'il demande 1 550 € à quatre positions : « le palier cinq est un prix de volume engagé, il s'achète avec un volume ferme, pas avec une intention.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Je ne compare pas à un salaire brut : je compare à ce que vous coûte vraiment un poste tenu.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chiffre qui compte pour un donneur d'ordre : il n'achète pas une économie, il achète une marge et une capacité qu'il peut vendre.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gabarit de reporting hebdomadaire imprimé. Ne jamais remettre la grille QA interne : le client reçoit le reporting, pas le référentiel.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On met notre argent sur le résultat. » Ne pas surpromettre le seuil : il se fige au cadrage, avec la volumétrie réelle sous les yeux.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slide qui répond à « vous êtes trop petits ». Un plan de continuité écrit est ce qu'aucun concurrent low-cost ne fournit.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N'en concéder qu'UNE, choisie à l'avance. Trois d'un coup, ce n'est plus une concession, c'est une braderie — et il ne reste rien pour l'objection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la phrase, puis SE TAIRE. Toute justification supplémentaire donne l'impression que le dépôt est négociable. S'il pousse : « c'est ce qui me permet de démarrer le recrutement le jour même au lieu d'attendre trente jours — c'est ce qui vous fait gagner un mois.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jamais annoncer trois semaines : c'est la durée de la mise en service seule. Une date tenue vaut mille fois mieux qu'une date vendue.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la demande, puis ne plus parler. Le premier qui parle après la demande perd la fin de la négociation. S'il ne signe pas : « qu'est-ce qui manque exactement ? » et une date, pas « dans quelques jours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13C5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FCE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SALVERYS · MARQUE BLANCHE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Helpdesk IT N1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sous votre marque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94360" y="3794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positions dédiées, à Antananarivo, dans vos outils et sur vos procédures. Vos clients finaux ne voient que vous.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732520" y="1828800"/>
            <a:ext cx="2834640" cy="1417320"/>
          </a:xfrm>
          <a:prstGeom prst="roundRect">
            <a:avLst>
              <a:gd name="adj" fmla="val 5806"/>
            </a:avLst>
          </a:prstGeom>
          <a:solidFill>
            <a:srgbClr val="05496A"/>
          </a:solidFill>
          <a:ln w="12700">
            <a:solidFill>
              <a:srgbClr val="0549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19385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CE2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73252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dédiées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32520" y="3383280"/>
            <a:ext cx="2834640" cy="1234440"/>
          </a:xfrm>
          <a:prstGeom prst="roundRect">
            <a:avLst>
              <a:gd name="adj" fmla="val 6667"/>
            </a:avLst>
          </a:prstGeom>
          <a:solidFill>
            <a:srgbClr val="05496A"/>
          </a:solidFill>
          <a:ln w="12700">
            <a:solidFill>
              <a:srgbClr val="0549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252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à 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73252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jusqu'à la production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5257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[PARTENAIRE]  ·  [date du rendez-vous]  ·  Document confidentiel, remis sous NDA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6327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VJUS — nom commercial Salverys · Antananarivo, Madagascar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m'avez dit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972800" cy="1207008"/>
          </a:xfrm>
          <a:prstGeom prst="roundRect">
            <a:avLst>
              <a:gd name="adj" fmla="val 6818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212848"/>
            <a:ext cx="420624" cy="420624"/>
          </a:xfrm>
          <a:prstGeom prst="ellipse">
            <a:avLst/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206654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N1 déborde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4688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remplacer par ses mots : événement déclencheur, part de tickets hors SLA sur les derniers mois]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246120"/>
            <a:ext cx="10972800" cy="1207008"/>
          </a:xfrm>
          <a:prstGeom prst="roundRect">
            <a:avLst>
              <a:gd name="adj" fmla="val 6818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3630168"/>
            <a:ext cx="420624" cy="420624"/>
          </a:xfrm>
          <a:prstGeom prst="ellipse">
            <a:avLst/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348386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recrutement ne suit pas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8862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remplacer : nombre de postes ouverts, durée moyenne avant départ, coût du turnover]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663440"/>
            <a:ext cx="10972800" cy="1207008"/>
          </a:xfrm>
          <a:prstGeom prst="roundRect">
            <a:avLst>
              <a:gd name="adj" fmla="val 6818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5047488"/>
            <a:ext cx="420624" cy="420624"/>
          </a:xfrm>
          <a:prstGeom prst="ellipse">
            <a:avLst/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5047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490118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créneaux ingrats coûtent cher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53035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remplacer : tranche horaire ou jour couvert en astreinte, mal vécu, non rentable]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6327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 qui suit est construite sur ces trois points, et sur rien d'autre.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1852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 PRIX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comprend une position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position, c'est un équivalent temps plein dédié à vous. Voici exactement ce qu'il y a dedans — et ce qu'il n'y a pas.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6858000" cy="585216"/>
          </a:xfrm>
          <a:prstGeom prst="roundRect">
            <a:avLst>
              <a:gd name="adj" fmla="val 14063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201168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ETP dédié, 35 h par semaine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6858000" cy="585216"/>
          </a:xfrm>
          <a:prstGeom prst="roundRect">
            <a:avLst>
              <a:gd name="adj" fmla="val 14063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974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69748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et e-mail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383280"/>
            <a:ext cx="6858000" cy="585216"/>
          </a:xfrm>
          <a:prstGeom prst="roundRect">
            <a:avLst>
              <a:gd name="adj" fmla="val 14063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832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338328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069080"/>
            <a:ext cx="6858000" cy="585216"/>
          </a:xfrm>
          <a:prstGeom prst="roundRect">
            <a:avLst>
              <a:gd name="adj" fmla="val 14063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0690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406908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9h – 18h heure de Paris, du lundi au vendredi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754880"/>
            <a:ext cx="6858000" cy="585216"/>
          </a:xfrm>
          <a:prstGeom prst="roundRect">
            <a:avLst>
              <a:gd name="adj" fmla="val 14063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7548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475488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: qualification, diagnostic, résolution, escalade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18120" y="2011680"/>
            <a:ext cx="3749040" cy="3328416"/>
          </a:xfrm>
          <a:prstGeom prst="roundRect">
            <a:avLst>
              <a:gd name="adj" fmla="val 2473"/>
            </a:avLst>
          </a:prstGeom>
          <a:solidFill>
            <a:srgbClr val="FCEEC9"/>
          </a:solidFill>
          <a:ln w="12700">
            <a:solidFill>
              <a:srgbClr val="FCEE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périmètre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92440" y="2560320"/>
            <a:ext cx="3200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voix (téléphone)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9h, après 18h, samedi, dimanche, nuit, jours fériés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Astreinte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et N3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sur site, gestion de parc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92440" y="45902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Chiffrés séparément, jamais accordés verbalement.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9h – 18h à Paris, c'est 10h – 19h chez nous. Pleine journée ouvrée à Antananarivo : ni astreinte, ni majoration de nuit.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6327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extension du périmètre passe par un avenant ou un nouveau devis.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1852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REMIS SOUS 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grille tarifaire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paliers de volume — pas un prix par effectif. Le prix baisse avec le volume que vous engagez fermement.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57400"/>
          <a:ext cx="109728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011680"/>
                <a:gridCol w="2651760"/>
                <a:gridCol w="24688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 engagées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C5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C5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/ position / mois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C5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mensuel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C5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1 750 €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5 250 €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13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13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7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13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1 750 €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7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13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7 000 €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7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positions et plus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1 550 €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7 750 €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4864608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48646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palier ne s'ouvre qu'au seuil atteint : deux positions restent au prix d'une, quatre au prix de trois.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4864608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FCEEC9"/>
          </a:solidFill>
          <a:ln w="12700">
            <a:solidFill>
              <a:srgbClr val="FCEE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48646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palier 5+ s'achète avec un volume ferme facturé — cinq positions dues chaque mois, consommées ou non.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6327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et mise en place offerts · facturation mensuelle · grille révisable annuellement, préavis 90 jours.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1852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ALTERNATIVE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coûtent quatre N1 en interne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257800" cy="2331720"/>
          </a:xfrm>
          <a:prstGeom prst="roundRect">
            <a:avLst>
              <a:gd name="adj" fmla="val 3529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POSTES N1 EN FRANCE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5420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12 800 – 16 800 €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33649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mois, en coût complet : salaire, charges, congés, absences, recrutement, formation, supervision, matériel, licences, locaux.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257800" cy="2331720"/>
          </a:xfrm>
          <a:prstGeom prst="roundRect">
            <a:avLst>
              <a:gd name="adj" fmla="val 3529"/>
            </a:avLst>
          </a:prstGeom>
          <a:solidFill>
            <a:srgbClr val="FCE27C"/>
          </a:solidFill>
          <a:ln w="12700">
            <a:solidFill>
              <a:srgbClr val="FCE2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QUATRE POSITIONS, CHEZ NOUS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25420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7 000 €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675120" y="33649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mois, tout compris : équipe dédiée, encadrement, qualité, continuité et engagement de service.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52628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6634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E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L'écart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0109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5 800 à 9 800 € par mois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035040" y="470916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70 000 à 118 000 € par an, à service rendu identique — et sans porter le risque de turnover.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6327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: coût employeur complet d'un technicien support IT N1 en France, 38 à 50 k€ par an et par poste.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1852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MODÈLE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ça vous rapporte en revente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revendez la prestation sous votre marque. Votre marge se construit sur l'écart, sans masse salariale à avancer.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FACTUREZ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26334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10 800 €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86968" y="34290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positions à 2 700 € — repère de marché pour un N1 francophone dédié. Vous restez libre de votre prix.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2103120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PAYEZ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08576" y="26334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7 000 €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08576" y="34290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positions au palier 3-4, à 1 750 € la position.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37576" y="2103120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FCE27C"/>
          </a:solidFill>
          <a:ln w="12700">
            <a:solidFill>
              <a:srgbClr val="FCE2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GARDEZ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30184" y="26334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3 800 €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330184" y="34290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mois, soit 45 600 € par an — sans embaucher personne.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9204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si un client final s'arrête, vous ne restez pas avec quatre CDI sur les bras.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94360" y="6327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Élasticité : le nombre de positions monte ou descend au rythme de vos contrats.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1852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TIENT LA PROMESSE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qualité, armée avant le premier ticket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57400"/>
            <a:ext cx="420624" cy="420624"/>
          </a:xfrm>
          <a:prstGeom prst="ellipse">
            <a:avLst/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911096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notation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883664"/>
            <a:ext cx="6492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critères notés à chaque écoute, dont 2 bloquants : respect du SLA et traçabilité du ticket. Un manquement sur l'un des deux met la fiche au rouge, quel que soit le score.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843784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118104"/>
            <a:ext cx="420624" cy="420624"/>
          </a:xfrm>
          <a:prstGeom prst="ellipse">
            <a:avLst/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971800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écoute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944368"/>
            <a:ext cx="6492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5 écoutes par agent la première semaine, puis 2 par semaine en régime, et systématiquement après toute réclamation. Restitution à l'agent sous 48 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904488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178808"/>
            <a:ext cx="420624" cy="420624"/>
          </a:xfrm>
          <a:prstGeom prst="ellipse">
            <a:avLst/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7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4032504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hebdomadaire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4005072"/>
            <a:ext cx="6492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Volumes, délais, taux d'escalade, top motifs, irritants récurrents. Vous mesurez, vous ne nous croyez pas sur parole.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965192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5239512"/>
            <a:ext cx="420624" cy="420624"/>
          </a:xfrm>
          <a:prstGeom prst="ellipse">
            <a:avLst/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239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5093208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Escalades documentées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5065776"/>
            <a:ext cx="6492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N1 → N2 → vous : interlocuteur, canal et délai figés au cadrage, écrits avant le premier ticket.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6327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démarre sans grille armée, planning de double écoute et escalades écrites.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1852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CE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ARGENT SUR LE RÉSULTAT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L'engagement de service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7040880" cy="868680"/>
          </a:xfrm>
          <a:prstGeom prst="roundRect">
            <a:avLst>
              <a:gd name="adj" fmla="val 9474"/>
            </a:avLst>
          </a:prstGeom>
          <a:solidFill>
            <a:srgbClr val="05496A"/>
          </a:solidFill>
          <a:ln w="12700">
            <a:solidFill>
              <a:srgbClr val="0549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engagé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2768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prise en charge des tickets N1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880360"/>
            <a:ext cx="7040880" cy="868680"/>
          </a:xfrm>
          <a:prstGeom prst="roundRect">
            <a:avLst>
              <a:gd name="adj" fmla="val 9474"/>
            </a:avLst>
          </a:prstGeom>
          <a:solidFill>
            <a:srgbClr val="05496A"/>
          </a:solidFill>
          <a:ln w="12700">
            <a:solidFill>
              <a:srgbClr val="0549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992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2826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Figé avec vous au cadrage, mesuré sur les tickets présentés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886200"/>
            <a:ext cx="7040880" cy="868680"/>
          </a:xfrm>
          <a:prstGeom prst="roundRect">
            <a:avLst>
              <a:gd name="adj" fmla="val 9474"/>
            </a:avLst>
          </a:prstGeom>
          <a:solidFill>
            <a:srgbClr val="05496A"/>
          </a:solidFill>
          <a:ln w="12700">
            <a:solidFill>
              <a:srgbClr val="0549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050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seuil n'est pas tenu sur un mois civil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428853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 d'avoir automatique sur la facture du mois suivant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87452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CE27C"/>
          </a:solidFill>
          <a:ln w="12700">
            <a:solidFill>
              <a:srgbClr val="FCE2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212848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046720" y="31455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d'avoir automatique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354787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n'avez rien à réclamer.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Plafonné à un mois sur douze.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074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L'engagement court à partir du premier mois plein en régime : pendant l'intégration, le service n'est pas encore stabilisé et nous ne vous demandons rien d'autre que de mesurer avec nous.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6327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indisponibilités de vos propres systèmes et hors débordement au-delà du périmètre souscrit.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1852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QUE TOUT LE MONDE OUBLIE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continuité de service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727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contraintes réelles à Antananarivo : le réseau et l'électricité. Traitées, écrites, et remises avant le démarrage.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331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039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connexion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3456432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dispose d'une fibre et d'un relais 4G, avec procédure de bascule.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2331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3931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repli alimenté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9312" y="3456432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Onduleurs et groupe électrogène : le service ne dépend pas du réseau électrique local.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10312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331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2823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+1 par compte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28232" y="3456432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supplémentaire formé sur vos procédures : pas de jour d'arrêt sur une absence.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103120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FCEEC9"/>
          </a:solidFill>
          <a:ln w="12700">
            <a:solidFill>
              <a:srgbClr val="FCEE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2331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21715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continuité écrit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17152" y="3456432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 avant tout démarrage, réutilisable dans vos propres réponses d'appels d'offres.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138928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13892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restent dans vos outils. Comptes nominatifs, MFA, aucun stockage chez nous — nous sommes sous-traitant au sens du RGPD, avec DPA signé.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1852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REMISE, ET C'EST VOLONTAIRE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vous accordons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revendez : une remise sur votre prix de gros améliorerait votre marge d'un mois, elle ne vous ferait gagner aucun client. Ce que nous vous donnons enlève du risque — et vous aide à vendre.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468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à 30 jours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32918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les trois premiers mois, vous arrêtez sur simple notification, sans indemnité — au lieu des 60 jours de préavis contractuels.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2240280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2468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Exclusivité 12 mois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08576" y="32918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autre prestataire de même nature sur [votre territoire ou votre segment] ne sera servi par Salverys pendant douze mois.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37576" y="2240280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FCE27C"/>
          </a:solidFill>
          <a:ln w="12700">
            <a:solidFill>
              <a:srgbClr val="FCE2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2468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Appui avant-vente sous 48 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30184" y="32918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continuité, DPA, dispositif QA, CV anonymisés et engagement SLA écrit — réutilisables tels quels dans vos réponses d'appels d'offres.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4956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troisième est le seul qui vous aide à gagner un client, pas seulement à en économiser un.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54681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prix, c'est le volume que vous engagez fermement qui le fait baisser — pas la négociation.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6327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contreparties accordées sont cochées dans le devis et reprises au contrat.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1852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DÉCLENCHE TOUT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dépôt d'activation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120640" cy="2011680"/>
          </a:xfrm>
          <a:prstGeom prst="roundRect">
            <a:avLst>
              <a:gd name="adj" fmla="val 4091"/>
            </a:avLst>
          </a:prstGeom>
          <a:solidFill>
            <a:srgbClr val="FCE27C"/>
          </a:solidFill>
          <a:ln w="12700">
            <a:solidFill>
              <a:srgbClr val="FCE2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2 700 €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signature — plafonné, quel que soit le nombre de positions.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20116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ne le payez pas : vous l'avancez.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26480" y="2542032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revient intégralement dans vos trois premières factures. Un partenaire qui va au bout du contrat ne paie rien de plus : ce n'est pas des frais, c'est une avance.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0624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C5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imputé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C5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Reste dû sur le dépôt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C5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900 €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1 800 €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900 €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900 €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766560" y="4206240"/>
            <a:ext cx="4800600" cy="1737360"/>
          </a:xfrm>
          <a:prstGeom prst="roundRect">
            <a:avLst>
              <a:gd name="adj" fmla="val 4737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nous reste acquis que dans un seul cas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040880" y="4736592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annulez après que nous ayons engagé le recrutement et lancé la formation de quatre personnes pour vous. Avant ce démarrage, il vous est intégralement restitué.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94360" y="6327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et mise en place : offerts. Le dépôt n'est pas une facturation de la mise en service.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01852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SIGNATURE À LA 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à sept semaines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Recruter un technicien N1 en France prend 60 à 90 jours. Quatre en même temps, cela n'arrive pas.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377440"/>
            <a:ext cx="420624" cy="420624"/>
          </a:xfrm>
          <a:prstGeom prst="ellipse">
            <a:avLst/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377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29443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37033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Contrat, DPA et devis signés. Dépôt d'activation encaissé — c'est lui qui déclenche le recrutement.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14884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9312" y="2377440"/>
            <a:ext cx="420624" cy="420624"/>
          </a:xfrm>
          <a:prstGeom prst="ellipse">
            <a:avLst/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377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S4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39312" y="29443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de l'équipe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39312" y="37033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Sélection, tests de mise en situation, contrats de prestation, NDA et DPA des intervenants.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14884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2377440"/>
            <a:ext cx="420624" cy="420624"/>
          </a:xfrm>
          <a:prstGeom prst="ellipse">
            <a:avLst/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2377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– S6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28232" y="29443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28232" y="37033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nominatifs à votre ticketing, formation à vos procédures et à vos macros, armement de la qualité, test de bout en bout.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0" y="214884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CE27C"/>
          </a:solidFill>
          <a:ln w="12700">
            <a:solidFill>
              <a:srgbClr val="FCE2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7152" y="2377440"/>
            <a:ext cx="420624" cy="420624"/>
          </a:xfrm>
          <a:prstGeom prst="ellipse">
            <a:avLst/>
          </a:prstGeom>
          <a:solidFill>
            <a:srgbClr val="013C58"/>
          </a:solidFill>
          <a:ln w="12700">
            <a:solidFill>
              <a:srgbClr val="013C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0" y="2377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– S7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17152" y="29443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17152" y="37033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ticket traité sous votre marque. Reporting dès la première semaine.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5532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3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nous signons aujourd'hui, vous démarrez le [date].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101852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C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CE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DÉMARRER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me faut aujourd'hui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7680960" cy="1371600"/>
          </a:xfrm>
          <a:prstGeom prst="roundRect">
            <a:avLst>
              <a:gd name="adj" fmla="val 6000"/>
            </a:avLst>
          </a:prstGeom>
          <a:solidFill>
            <a:srgbClr val="05496A"/>
          </a:solidFill>
          <a:ln w="12700">
            <a:solidFill>
              <a:srgbClr val="0549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487168"/>
            <a:ext cx="420624" cy="420624"/>
          </a:xfrm>
          <a:prstGeom prst="ellipse">
            <a:avLst/>
          </a:prstGeom>
          <a:solidFill>
            <a:srgbClr val="FCE27C"/>
          </a:solidFill>
          <a:ln w="12700">
            <a:solidFill>
              <a:srgbClr val="FCE2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224942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signature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37360" y="26700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contrat de prestation, son annexe de niche et le DPA. Les trois documents sont sur la table.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584448"/>
            <a:ext cx="7680960" cy="1371600"/>
          </a:xfrm>
          <a:prstGeom prst="roundRect">
            <a:avLst>
              <a:gd name="adj" fmla="val 6000"/>
            </a:avLst>
          </a:prstGeom>
          <a:solidFill>
            <a:srgbClr val="05496A"/>
          </a:solidFill>
          <a:ln w="12700">
            <a:solidFill>
              <a:srgbClr val="0549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4059936"/>
            <a:ext cx="420624" cy="420624"/>
          </a:xfrm>
          <a:prstGeom prst="ellipse">
            <a:avLst/>
          </a:prstGeom>
          <a:solidFill>
            <a:srgbClr val="FCE27C"/>
          </a:solidFill>
          <a:ln w="12700">
            <a:solidFill>
              <a:srgbClr val="FCE2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3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38221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virement du dépôt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424281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2 700 €. C'est lui qui déclenche le recrutement — et le recrutement, c'est votre date de démarrage.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95360" y="2011680"/>
            <a:ext cx="2971800" cy="2761488"/>
          </a:xfrm>
          <a:prstGeom prst="roundRect">
            <a:avLst>
              <a:gd name="adj" fmla="val 2980"/>
            </a:avLst>
          </a:prstGeom>
          <a:solidFill>
            <a:srgbClr val="FCE27C"/>
          </a:solidFill>
          <a:ln w="12700">
            <a:solidFill>
              <a:srgbClr val="FCE2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69680" y="2578608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positions à 1 750 €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7 000 € par mois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le [date]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à 30 jours les 3 premiers mois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1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engagé, 20 % d'avoir en deçà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5257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E2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 va ?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486400" y="6327648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VJUS — nom commercial Salverys · Antananarivo · Document confidentiel remis sous NDA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VJUS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— 4 positions helpdesk IT N1</dc:title>
  <dc:subject>PptxGenJS Presentation</dc:subject>
  <dc:creator>Salverys</dc:creator>
  <cp:lastModifiedBy>Salverys</cp:lastModifiedBy>
  <cp:revision>1</cp:revision>
  <dcterms:created xsi:type="dcterms:W3CDTF">2026-08-09T13:11:26Z</dcterms:created>
  <dcterms:modified xsi:type="dcterms:W3CDTF">2026-08-09T13:11:26Z</dcterms:modified>
</cp:coreProperties>
</file>