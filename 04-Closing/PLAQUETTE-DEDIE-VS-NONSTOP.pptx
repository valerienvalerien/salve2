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E3D4E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E3D4E"/>
                </a:solidFill>
                <a:latin typeface="Calibri"/>
              </a:rPr>
              <a:t>Coût mensuel estimé pour 4 agents (€)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Poste dédié</c:v>
                </c:pt>
              </c:strCache>
            </c:strRef>
          </c:tx>
          <c:spPr>
            <a:solidFill>
              <a:srgbClr val="9AA7B0"/>
            </a:solidFill>
            <a:effectLst/>
          </c:spPr>
          <c:invertIfNegative val="0"/>
          <c:dLbls>
            <c:numFmt formatCode="#,##0 &quot;€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2424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Heures de bureau
(~45 h/semaine)</c:v>
                  </c:pt>
                  <c:pt idx="1">
                    <c:v>Amplitude 8h-20h
(60 h/semaine)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9500</c:v>
                </c:pt>
                <c:pt idx="1">
                  <c:v>12664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Équipe managée</c:v>
                </c:pt>
              </c:strCache>
            </c:strRef>
          </c:tx>
          <c:spPr>
            <a:solidFill>
              <a:srgbClr val="E06B52"/>
            </a:solidFill>
            <a:effectLst/>
          </c:spPr>
          <c:invertIfNegative val="0"/>
          <c:dLbls>
            <c:numFmt formatCode="#,##0 &quot;€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2424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Heures de bureau
(~45 h/semaine)</c:v>
                  </c:pt>
                  <c:pt idx="1">
                    <c:v>Amplitude 8h-20h
(60 h/semaine)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10925</c:v>
                </c:pt>
                <c:pt idx="1">
                  <c:v>10925</c:v>
                </c:pt>
              </c:numCache>
            </c:numRef>
          </c:val>
        </c:ser>
        <c:dLbls>
          <c:numFmt formatCode="#,##0 &quot;€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32424C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E3D4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000"/>
          <c:min val="0"/>
        </c:scaling>
        <c:delete val="0"/>
        <c:axPos val="l"/>
        <c:majorGridlines>
          <c:spPr>
            <a:ln w="12700" cap="flat">
              <a:solidFill>
                <a:srgbClr val="E8ED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7A8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0E3D4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Plaquette d'aide au choix entre le forfait Poste dédié et le forfait Équipe managée. À utiliser en rendez-vous quand le prospect hésite entre les deux, ou quand il demande l'Équipe managée alors que son besoin ne le justifie pas.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Message clé : ce n'est pas une échelle de taille, ce sont deux promesses. Si le prospect ne retient qu'une chose, c'est celle-là.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À utiliser quand le prospect demande spontanément l'Équipe managée : lui montrer qu'il paierait une garantie dont son besoin n'a pas l'usage.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4e critère est le verrou : sous 4 positions, on ne vend pas l'Équipe managée, même si le client le demande. Ce n'est pas un choix commercial, c'est une contrainte de staffing.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Chiffres issus du simulateur public (PRICING.md §3.f). L'Équipe managée à 4 agents (10 925 €) correspond au « à partir de 11 000 € » affiché sur le 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Répond à l'objection « et si votre agent est malade ? ». Les trois promesses sont distinctes et toutes tenables — ne jamais promettre la capacité inchangée hors Priority.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qu'on sait dire non à une montée en gamme est ce qui rend crédible la recommandation inverse.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Clore sur l'amplitude, jamais sur le prix : c'est le critère qui rend l'arbitrage évident et qui nous laisse recommander le forfait le moins cher sans perdre le deal.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371600"/>
            <a:ext cx="5486400" cy="5486400"/>
          </a:xfrm>
          <a:prstGeom prst="ellipse">
            <a:avLst/>
          </a:prstGeom>
          <a:solidFill>
            <a:srgbClr val="1A5F7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023360"/>
            <a:ext cx="3108960" cy="3108960"/>
          </a:xfrm>
          <a:prstGeom prst="ellipse">
            <a:avLst/>
          </a:prstGeom>
          <a:solidFill>
            <a:srgbClr val="E06B52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SALVERYS · HELPDESK IT N1 &amp; SUPPORT APPLICATIF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Poste dédié ou Équipe managée ?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FD0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vrai coût de la continuité de service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D8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choix entre nos deux forfaits ne se joue pas sur le nombre de tickets.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D8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se joue sur les heures où on vous sollicite — et sur ce qui doit se passer quand quelqu'un manque.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4892040"/>
            <a:ext cx="5212080" cy="566928"/>
          </a:xfrm>
          <a:prstGeom prst="roundRect">
            <a:avLst>
              <a:gd name="adj" fmla="val 50000"/>
            </a:avLst>
          </a:prstGeom>
          <a:solidFill>
            <a:srgbClr val="E06B5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892040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francophone · Antananarivo → France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POINT DE DÉPART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3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ne sont pas deux tailles du même service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Beaucoup d'acheteurs lisent nos forfaits comme une échelle : un peu plus d'agents, un peu plus cher. C'est faux. Les deux forfaits achètent deux promesses distinctes.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257800" cy="41605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  <a:effectLst>
            <a:outerShdw sx="100000" sy="100000" kx="0" ky="0" algn="bl" rotWithShape="0" blurRad="152400" dist="38100" dir="5400000">
              <a:srgbClr val="0E3D4E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28600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1A5F7A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2860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 dédié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2816352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3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Vous achetez des personnes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987552" y="3346704"/>
            <a:ext cx="182880" cy="182880"/>
          </a:xfrm>
          <a:prstGeom prst="ellipse">
            <a:avLst/>
          </a:prstGeom>
          <a:solidFill>
            <a:srgbClr val="E06B52"/>
          </a:solidFill>
          <a:ln/>
        </p:spPr>
      </p:sp>
      <p:sp>
        <p:nvSpPr>
          <p:cNvPr id="10" name="Text 8"/>
          <p:cNvSpPr/>
          <p:nvPr/>
        </p:nvSpPr>
        <p:spPr>
          <a:xfrm>
            <a:off x="1298448" y="3291840"/>
            <a:ext cx="4297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2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agent 100 % à vous, 35 ou 40 h/semaine, sur une plage classique.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87552" y="4005072"/>
            <a:ext cx="182880" cy="182880"/>
          </a:xfrm>
          <a:prstGeom prst="ellipse">
            <a:avLst/>
          </a:prstGeom>
          <a:solidFill>
            <a:srgbClr val="E06B52"/>
          </a:solidFill>
          <a:ln/>
        </p:spPr>
      </p:sp>
      <p:sp>
        <p:nvSpPr>
          <p:cNvPr id="12" name="Text 10"/>
          <p:cNvSpPr/>
          <p:nvPr/>
        </p:nvSpPr>
        <p:spPr>
          <a:xfrm>
            <a:off x="1298448" y="3950208"/>
            <a:ext cx="4297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2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connaît votre parc, vos procédures, vos utilisateurs récurrents.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87552" y="4663440"/>
            <a:ext cx="182880" cy="182880"/>
          </a:xfrm>
          <a:prstGeom prst="ellipse">
            <a:avLst/>
          </a:prstGeom>
          <a:solidFill>
            <a:srgbClr val="E06B52"/>
          </a:solidFill>
          <a:ln/>
        </p:spPr>
      </p:sp>
      <p:sp>
        <p:nvSpPr>
          <p:cNvPr id="14" name="Text 12"/>
          <p:cNvSpPr/>
          <p:nvPr/>
        </p:nvSpPr>
        <p:spPr>
          <a:xfrm>
            <a:off x="1298448" y="4608576"/>
            <a:ext cx="4297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2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absence isolée est reprise par le manager métier : le service continue, le délai de traitement s'allonge.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5468112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contrepartie : passé 18h ou le week-end, personne ne répond avant le lendemain matin.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2011680"/>
            <a:ext cx="5257800" cy="41605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  <a:effectLst>
            <a:outerShdw sx="100000" sy="100000" kx="0" ky="0" algn="bl" rotWithShape="0" blurRad="152400" dist="38100" dir="5400000">
              <a:srgbClr val="0E3D4E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83680" y="228600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E06B52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22860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managée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0" y="2816352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3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Vous achetez une plage horaire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6611112" y="3346704"/>
            <a:ext cx="182880" cy="182880"/>
          </a:xfrm>
          <a:prstGeom prst="ellipse">
            <a:avLst/>
          </a:prstGeom>
          <a:solidFill>
            <a:srgbClr val="E06B52"/>
          </a:solidFill>
          <a:ln/>
        </p:spPr>
      </p:sp>
      <p:sp>
        <p:nvSpPr>
          <p:cNvPr id="21" name="Text 19"/>
          <p:cNvSpPr/>
          <p:nvPr/>
        </p:nvSpPr>
        <p:spPr>
          <a:xfrm>
            <a:off x="6922008" y="3291840"/>
            <a:ext cx="4297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2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agents minimum en rotation sur 6h-20h, 3×8 ou 24·7, plus un superviseur dédié.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611112" y="4005072"/>
            <a:ext cx="182880" cy="182880"/>
          </a:xfrm>
          <a:prstGeom prst="ellipse">
            <a:avLst/>
          </a:prstGeom>
          <a:solidFill>
            <a:srgbClr val="E06B52"/>
          </a:solidFill>
          <a:ln/>
        </p:spPr>
      </p:sp>
      <p:sp>
        <p:nvSpPr>
          <p:cNvPr id="23" name="Text 21"/>
          <p:cNvSpPr/>
          <p:nvPr/>
        </p:nvSpPr>
        <p:spPr>
          <a:xfrm>
            <a:off x="6922008" y="3950208"/>
            <a:ext cx="4297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2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L'équipe est dimensionnée pour que la plage tienne, pas pour qu'une personne soit là.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611112" y="4663440"/>
            <a:ext cx="182880" cy="182880"/>
          </a:xfrm>
          <a:prstGeom prst="ellipse">
            <a:avLst/>
          </a:prstGeom>
          <a:solidFill>
            <a:srgbClr val="E06B52"/>
          </a:solidFill>
          <a:ln/>
        </p:spPr>
      </p:sp>
      <p:sp>
        <p:nvSpPr>
          <p:cNvPr id="25" name="Text 23"/>
          <p:cNvSpPr/>
          <p:nvPr/>
        </p:nvSpPr>
        <p:spPr>
          <a:xfrm>
            <a:off x="6922008" y="4608576"/>
            <a:ext cx="4297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2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absent fait baisser la capacité d'environ 25 % — il ne ferme jamais la plage.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83680" y="5468112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contrepartie : la rotation se paie, même les heures où personne ne manque.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N°1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3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Restez au Poste dédié si…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57800" cy="1225296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837944"/>
            <a:ext cx="182880" cy="182880"/>
          </a:xfrm>
          <a:prstGeom prst="ellipse">
            <a:avLst/>
          </a:prstGeom>
          <a:solidFill>
            <a:srgbClr val="E06B5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3794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34440" y="174650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3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utilisateurs sont là de 9h à 18h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2103120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après : c'est déjà la totalité de votre trafic. Payer une rotation nocturne pour zéro appel après 18h ne rembourse jamais son surcoût.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257800" cy="1225296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1837944"/>
            <a:ext cx="182880" cy="182880"/>
          </a:xfrm>
          <a:prstGeom prst="ellipse">
            <a:avLst/>
          </a:prstGeom>
          <a:solidFill>
            <a:srgbClr val="E06B52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83794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0" y="174650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3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ticket du soir attend le lendemain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0" y="2103120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Nuit ou week-end sans réponse : le ticket part à l'ouverture, sans pénalité ni client qui décroche.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2990088"/>
            <a:ext cx="5257800" cy="1225296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227832"/>
            <a:ext cx="182880" cy="182880"/>
          </a:xfrm>
          <a:prstGeom prst="ellipse">
            <a:avLst/>
          </a:prstGeom>
          <a:solidFill>
            <a:srgbClr val="E06B52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2278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34440" y="313639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3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couvrez 1 à 3 positions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493008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 4 agents, une rotation ne peut de toute façon pas tourner : le sujet Équipe managée ne se pose même pas.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2990088"/>
            <a:ext cx="5257800" cy="1225296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3227832"/>
            <a:ext cx="182880" cy="182880"/>
          </a:xfrm>
          <a:prstGeom prst="ellipse">
            <a:avLst/>
          </a:prstGeom>
          <a:solidFill>
            <a:srgbClr val="E06B52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32278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0" y="313639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3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absence glisse le traitement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0" y="3493008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quelques heures dans la journée, pas d'un jour : le manager métier reprend, le ticket part juste un peu plus tard.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4379976"/>
            <a:ext cx="5257800" cy="1225296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0" y="4617720"/>
            <a:ext cx="182880" cy="182880"/>
          </a:xfrm>
          <a:prstGeom prst="ellipse">
            <a:avLst/>
          </a:prstGeom>
          <a:solidFill>
            <a:srgbClr val="E06B52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46177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234440" y="452628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3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cherchez le prix au plus juste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34440" y="4882896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une plage classique : c'est le forfait qui porte l'écart de −40 à −60 % face à un poste interne en France.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63640" y="4379976"/>
            <a:ext cx="5257800" cy="1225296"/>
          </a:xfrm>
          <a:prstGeom prst="roundRect">
            <a:avLst>
              <a:gd name="adj" fmla="val 8955"/>
            </a:avLst>
          </a:prstGeom>
          <a:solidFill>
            <a:srgbClr val="0E3D4E"/>
          </a:solidFill>
          <a:ln/>
        </p:spPr>
      </p:sp>
      <p:sp>
        <p:nvSpPr>
          <p:cNvPr id="30" name="Text 28"/>
          <p:cNvSpPr/>
          <p:nvPr/>
        </p:nvSpPr>
        <p:spPr>
          <a:xfrm>
            <a:off x="6510528" y="451713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9 500 €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8549640" y="452628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C6D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mois pour 4 agents sur 9h–18h, soit 1 425 € de moins que le même effectif en Équipe managée.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ces cinq cas, monter à l'Équipe managée revient à payer une garantie dont vos horaires n'ont pas l'usage — et nous vous le dirons.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N°2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3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Passez à l'Équipe managée si…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57800" cy="1225296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837944"/>
            <a:ext cx="182880" cy="182880"/>
          </a:xfrm>
          <a:prstGeom prst="ellipse">
            <a:avLst/>
          </a:prstGeom>
          <a:solidFill>
            <a:srgbClr val="E06B5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3794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34440" y="174650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3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demandes arrivent après 18h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2103120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week-end ou la nuit. Hors 9h–18h, un poste dédié ne répond pas : il faut quelqu'un en poste, physiquement, sur ces heures-là.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257800" cy="1225296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1837944"/>
            <a:ext cx="182880" cy="182880"/>
          </a:xfrm>
          <a:prstGeom prst="ellipse">
            <a:avLst/>
          </a:prstGeom>
          <a:solidFill>
            <a:srgbClr val="E06B52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83794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0" y="174650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3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Vendredi 19h ne peut pas attendre lundi 9h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0" y="2103120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heures de silence, ce n'est pas un délai : c'est une rupture. Un ticket dédié attend l'ouverture ; un ticket en Équipe managée est pris en charge dans l'heure.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2990088"/>
            <a:ext cx="5257800" cy="1225296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227832"/>
            <a:ext cx="182880" cy="182880"/>
          </a:xfrm>
          <a:prstGeom prst="ellipse">
            <a:avLst/>
          </a:prstGeom>
          <a:solidFill>
            <a:srgbClr val="E06B52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2278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34440" y="313639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3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heure sans réponse coûte cher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493008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Pénalité de SLA, escalade client, appel d'offres à défendre : dès qu'une heure se facture, la rotation devient l'option économique.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2990088"/>
            <a:ext cx="5257800" cy="1225296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3227832"/>
            <a:ext cx="182880" cy="182880"/>
          </a:xfrm>
          <a:prstGeom prst="ellipse">
            <a:avLst/>
          </a:prstGeom>
          <a:solidFill>
            <a:srgbClr val="E06B52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32278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0" y="313639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3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couverture dépasse 45 h/semaine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0" y="3493008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6h-20h, 3×8 ou 24·7 : au-delà d'une journée de travail, il faut des équipes qui se relaient, pas des agents qui s'épuisent.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4379976"/>
            <a:ext cx="5257800" cy="1225296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0" y="4617720"/>
            <a:ext cx="182880" cy="182880"/>
          </a:xfrm>
          <a:prstGeom prst="ellipse">
            <a:avLst/>
          </a:prstGeom>
          <a:solidFill>
            <a:srgbClr val="E06B52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46177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234440" y="452628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3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ouvrez 4 positions ou plus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34440" y="4882896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le plancher physique de la rotation : 4 × 35 h = 140 h/semaine pour 70 h d'amplitude. En dessous, elle ne tourne pas.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63640" y="4379976"/>
            <a:ext cx="5257800" cy="1225296"/>
          </a:xfrm>
          <a:prstGeom prst="roundRect">
            <a:avLst>
              <a:gd name="adj" fmla="val 8955"/>
            </a:avLst>
          </a:prstGeom>
          <a:solidFill>
            <a:srgbClr val="E06B52"/>
          </a:solidFill>
          <a:ln/>
        </p:spPr>
      </p:sp>
      <p:sp>
        <p:nvSpPr>
          <p:cNvPr id="30" name="Text 28"/>
          <p:cNvSpPr/>
          <p:nvPr/>
        </p:nvSpPr>
        <p:spPr>
          <a:xfrm>
            <a:off x="6510528" y="451713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−1 739 €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8641080" y="45720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FCE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mois face au Poste dédié sur-staffé, dès lors que la plage à tenir est 8h-20h.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de ces cinq critères suffit à justifier l'Équipe managée, dès lors qu'il touche les heures — sauf le plancher de 4 positions, qui, lui, est non négociable.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BASCULE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3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heures décident, pas le volume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effectif identique — 4 agents — le forfait le moins cher change selon les heures à couvrir, de 9h–18h à 8h–20h. C'est le seul arbitrage qui compte.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965960"/>
          <a:ext cx="68580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2148840"/>
            <a:ext cx="3749040" cy="1417320"/>
          </a:xfrm>
          <a:prstGeom prst="roundRect">
            <a:avLst>
              <a:gd name="adj" fmla="val 7742"/>
            </a:avLst>
          </a:prstGeom>
          <a:solidFill>
            <a:srgbClr val="F4F6F7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01000" y="230428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E3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9h à 18h, le dédié gagne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01000" y="277063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A5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rotation et le superviseur de l'Équipe managée coûtent +15 % sans couvrir une minute de plus, tant que personne ne sollicite le support hors de ces heures. Le surcoût n'achète pas du temps : il achète une garantie.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772400" y="3749040"/>
            <a:ext cx="3749040" cy="1417320"/>
          </a:xfrm>
          <a:prstGeom prst="roundRect">
            <a:avLst>
              <a:gd name="adj" fmla="val 7742"/>
            </a:avLst>
          </a:prstGeom>
          <a:solidFill>
            <a:srgbClr val="FDEEE9"/>
          </a:solidFill>
          <a:ln w="12700">
            <a:solidFill>
              <a:srgbClr val="F3CFC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01000" y="390448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E0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Dès 8h-20h, la comparaison change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001000" y="437083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A5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Tenir 60 h/semaine avec 4 positions en simultané demande 5,3 têtes en dédié. L'Équipe managée couvre la même plage avec 4 agents — donc ~2,3 en ligne à la fois. Moins cher pour cette raison, pas par efficacité.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0080" y="60533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helpdesk IT N1 (2 500 €/ETP, dégressif volume inclus). Support applicatif N1 SaaS : 8 740 € · 10 051 € · 11 650 €. Estimations indicatives — devis ferme sous 24 h.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DOCTRINE DE CONTINUITÉ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3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qu'on promet quand quelqu'un manque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de nos forfaits ne vend un « agent de backup » en ligne d'option : le remplacement est le coût de l'engagement, il est dans le prix. Voici ce qu'il couvre, palier par palier.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21488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FORFAIT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423160" y="2148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REMPLACE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206240" y="2148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PROMET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06640" y="2148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NE PROMET PAS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514600"/>
            <a:ext cx="1088136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  <a:effectLst>
            <a:outerShdw sx="100000" sy="100000" kx="0" ky="0" algn="bl" rotWithShape="0" blurRad="152400" dist="38100" dir="5400000">
              <a:srgbClr val="0E3D4E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862072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1A5F7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86207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 dédié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23160" y="27889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E3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manager métier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06240" y="2734056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2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absences ponctuelles sont reprises : congés isolés, arrêt court.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406640" y="2734056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absences simultanées ni un arrêt long : on prévient et on ajuste le SLA au cadrage.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721608"/>
            <a:ext cx="1088136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  <a:effectLst>
            <a:outerShdw sx="100000" sy="100000" kx="0" ky="0" algn="bl" rotWithShape="0" blurRad="152400" dist="38100" dir="5400000">
              <a:srgbClr val="0E3D4E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" y="4069080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E06B52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06908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managée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423160" y="399592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E3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rotation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06240" y="3941064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2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plage reste tenue : 4 × 35 h couvrent 70 h d'amplitude, un absent en laisse 105.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406640" y="3941064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nombre d'agents en ligne à la fois : ~2,3 sur 8h-20h, et environ 25 % de moins pendant l'absence.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928616"/>
            <a:ext cx="1088136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  <a:effectLst>
            <a:outerShdw sx="100000" sy="100000" kx="0" ky="0" algn="bl" rotWithShape="0" blurRad="152400" dist="38100" dir="5400000">
              <a:srgbClr val="0E3D4E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68680" y="5276088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7A8B94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527608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423160" y="5202936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E3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backup nominatif réservé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206240" y="514807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2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capacité reste inchangée : zéro rupture, dès 1 agent.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406640" y="5148072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de niveau de service, cumulable avec le Poste dédié — pas un quatrième forfait.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0080" y="61447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manager métier est déjà payé et supervise déjà votre compte : aucune tête supplémentaire à recruter, donc aucune ligne en plus sur votre facture.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ÉVITER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3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deux façons de se tromper de forfait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257800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  <a:effectLst>
            <a:outerShdw sx="100000" sy="100000" kx="0" ky="0" algn="bl" rotWithShape="0" blurRad="152400" dist="38100" dir="5400000">
              <a:srgbClr val="0E3D4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828800"/>
            <a:ext cx="384048" cy="384048"/>
          </a:xfrm>
          <a:prstGeom prst="ellipse">
            <a:avLst/>
          </a:prstGeom>
          <a:solidFill>
            <a:srgbClr val="1A5F7A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81051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E3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Prendre l'Équipe managée « pour être tranquille »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2606040"/>
            <a:ext cx="461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60120" y="2862072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2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support sollicité de 9h à 18h, 3 positions, aucun SLA opposable — et un forfait à rotation acheté par précaution.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3776472"/>
            <a:ext cx="461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ÇA COÛTE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60120" y="4032504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2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payez +15 % pour une continuité que votre manager métier assure déjà, et vous diluez la connaissance de votre parc entre 4 agents au lieu de 3.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" y="4983480"/>
            <a:ext cx="4617720" cy="868680"/>
          </a:xfrm>
          <a:prstGeom prst="roundRect">
            <a:avLst>
              <a:gd name="adj" fmla="val 10526"/>
            </a:avLst>
          </a:prstGeom>
          <a:solidFill>
            <a:srgbClr val="F4F6F7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5074920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E3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bon réflexe : rester au Poste dédié, et n'ajouter Priority que si une rupture est réellement inacceptable.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63640" y="1554480"/>
            <a:ext cx="5257800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  <a:effectLst>
            <a:outerShdw sx="100000" sy="100000" kx="0" ky="0" algn="bl" rotWithShape="0" blurRad="152400" dist="38100" dir="5400000">
              <a:srgbClr val="0E3D4E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83680" y="1828800"/>
            <a:ext cx="384048" cy="384048"/>
          </a:xfrm>
          <a:prstGeom prst="ellipse">
            <a:avLst/>
          </a:prstGeom>
          <a:solidFill>
            <a:srgbClr val="E06B52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132320" y="181051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E3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Tenir une plage large avec des postes dédiés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83680" y="2606040"/>
            <a:ext cx="461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0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583680" y="2862072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2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engagement 8h-20h honoré en empilant des agents dédiés, sans rotation organisée ni superviseur.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0" y="3776472"/>
            <a:ext cx="461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0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ÇA COÛTE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583680" y="4032504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2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faut 5,3 têtes pour tenir 4 positions en simultané — et la plage tombe dès la première absence, précisément le jour où le SLA se joue.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83680" y="4983480"/>
            <a:ext cx="4617720" cy="868680"/>
          </a:xfrm>
          <a:prstGeom prst="roundRect">
            <a:avLst>
              <a:gd name="adj" fmla="val 10526"/>
            </a:avLst>
          </a:prstGeom>
          <a:solidFill>
            <a:srgbClr val="F4F6F7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0" y="5074920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E3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bon réflexe : passer à l'Équipe managée dès que la plage dépasse une journée de travail.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3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840480"/>
            <a:ext cx="4754880" cy="4754880"/>
          </a:xfrm>
          <a:prstGeom prst="ellipse">
            <a:avLst/>
          </a:prstGeom>
          <a:solidFill>
            <a:srgbClr val="1A5F7A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097280"/>
            <a:ext cx="3291840" cy="3291840"/>
          </a:xfrm>
          <a:prstGeom prst="ellipse">
            <a:avLst/>
          </a:prstGeom>
          <a:solidFill>
            <a:srgbClr val="E06B52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RÈGLE EN UNE PHRASE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Comptez vos heures, pas vos tickets.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121408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D8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Tant que vos demandes arrivent entre 9h et 18h, le Poste dédié les couvre au meilleur prix. Dès qu'elles arrivent après 18h, le week-end ou la nuit — et que vous avez 4 positions à ouvrir — l'Équipe managée les couvre pour moins cher que des postes dédiés empilés.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520440"/>
            <a:ext cx="3429000" cy="1691640"/>
          </a:xfrm>
          <a:prstGeom prst="roundRect">
            <a:avLst>
              <a:gd name="adj" fmla="val 7568"/>
            </a:avLst>
          </a:prstGeom>
          <a:solidFill>
            <a:srgbClr val="154B60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3749040"/>
            <a:ext cx="384048" cy="384048"/>
          </a:xfrm>
          <a:prstGeom prst="ellipse">
            <a:avLst/>
          </a:prstGeom>
          <a:solidFill>
            <a:srgbClr val="E06B52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17320" y="37673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décrivez vos horaires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14400" y="427939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BF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Heures à couvrir, volume, SLA en vigueur, et ce qui se passe aujourd'hui quand un ticket arrive hors plage.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89120" y="3520440"/>
            <a:ext cx="3429000" cy="1691640"/>
          </a:xfrm>
          <a:prstGeom prst="roundRect">
            <a:avLst>
              <a:gd name="adj" fmla="val 7568"/>
            </a:avLst>
          </a:prstGeom>
          <a:solidFill>
            <a:srgbClr val="154B60"/>
          </a:solidFill>
          <a:ln/>
        </p:spPr>
      </p:sp>
      <p:sp>
        <p:nvSpPr>
          <p:cNvPr id="13" name="Shape 11"/>
          <p:cNvSpPr/>
          <p:nvPr/>
        </p:nvSpPr>
        <p:spPr>
          <a:xfrm>
            <a:off x="4663440" y="3749040"/>
            <a:ext cx="384048" cy="384048"/>
          </a:xfrm>
          <a:prstGeom prst="ellipse">
            <a:avLst/>
          </a:prstGeom>
          <a:solidFill>
            <a:srgbClr val="E06B52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66360" y="37673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chiffre les deux scénarios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663440" y="427939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BF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 dédié et Équipe managée côte à côte, sur vos chiffres — y compris quand la réponse est de rester au dédié.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138160" y="3520440"/>
            <a:ext cx="3429000" cy="1691640"/>
          </a:xfrm>
          <a:prstGeom prst="roundRect">
            <a:avLst>
              <a:gd name="adj" fmla="val 7568"/>
            </a:avLst>
          </a:prstGeom>
          <a:solidFill>
            <a:srgbClr val="154B60"/>
          </a:solidFill>
          <a:ln/>
        </p:spPr>
      </p:sp>
      <p:sp>
        <p:nvSpPr>
          <p:cNvPr id="18" name="Shape 16"/>
          <p:cNvSpPr/>
          <p:nvPr/>
        </p:nvSpPr>
        <p:spPr>
          <a:xfrm>
            <a:off x="8412480" y="3749040"/>
            <a:ext cx="384048" cy="384048"/>
          </a:xfrm>
          <a:prstGeom prst="ellipse">
            <a:avLst/>
          </a:prstGeom>
          <a:solidFill>
            <a:srgbClr val="E06B52"/>
          </a:solidFill>
          <a:ln/>
        </p:spPr>
      </p:sp>
      <p:sp>
        <p:nvSpPr>
          <p:cNvPr id="19" name="Text 17"/>
          <p:cNvSpPr/>
          <p:nvPr/>
        </p:nvSpPr>
        <p:spPr>
          <a:xfrm>
            <a:off x="841248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915400" y="37673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Devis ferme sous 24 h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412480" y="427939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BF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 dès 3 mois, 1er mois à −50 %, opérationnel en 3 à 4 semaines.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0080" y="55778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6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contact@salverys.fr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40080" y="60350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Salverys — Helpdesk IT N1 &amp; Support applicatif N1 · Antananarivo → France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Salverys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Poste dédié ou Équipe managée</dc:title>
  <dc:subject>PptxGenJS Presentation</dc:subject>
  <dc:creator>Salverys</dc:creator>
  <cp:lastModifiedBy>Salverys</cp:lastModifiedBy>
  <cp:revision>1</cp:revision>
  <dcterms:created xsi:type="dcterms:W3CDTF">2026-08-25T14:02:03Z</dcterms:created>
  <dcterms:modified xsi:type="dcterms:W3CDTF">2026-08-25T14:02:03Z</dcterms:modified>
</cp:coreProperties>
</file>